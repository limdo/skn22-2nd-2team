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12e0e3da0_0_1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b12e0e3da0_0_1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g3b12e0e3da0_0_1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22960" y="21031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Malgun Gothic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KKBOX 이탈(Churn) 예측 데이터셋 소개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22960" y="2880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rgbClr val="D1D5DB"/>
                </a:solidFill>
                <a:latin typeface="Malgun Gothic"/>
                <a:ea typeface="Malgun Gothic"/>
                <a:cs typeface="Malgun Gothic"/>
                <a:sym typeface="Malgun Gothic"/>
              </a:rPr>
              <a:t>WSDM Cup 2018 · Kaggle 공개 과제 기반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작성일: 2025-12-17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개요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731520" y="8229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Malgun Gothic"/>
              <a:buNone/>
            </a:pP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목차</a:t>
            </a:r>
            <a:endParaRPr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8" name="Google Shape;28;p4"/>
          <p:cNvCxnSpPr/>
          <p:nvPr/>
        </p:nvCxnSpPr>
        <p:spPr>
          <a:xfrm>
            <a:off x="731520" y="1417320"/>
            <a:ext cx="10789920" cy="0"/>
          </a:xfrm>
          <a:prstGeom prst="straightConnector1">
            <a:avLst/>
          </a:prstGeom>
          <a:noFill/>
          <a:ln cap="flat" cmpd="sng" w="254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4"/>
          <p:cNvSpPr/>
          <p:nvPr/>
        </p:nvSpPr>
        <p:spPr>
          <a:xfrm>
            <a:off x="1183500" y="2185654"/>
            <a:ext cx="98247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Malgun Gothic"/>
              <a:buChar char="•"/>
            </a:pPr>
            <a:r>
              <a:rPr b="0" i="0" lang="en-US" sz="19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KKBOX</a:t>
            </a:r>
            <a:r>
              <a:rPr b="0" i="0" lang="en-US" sz="19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는 어떤 회사인가</a:t>
            </a:r>
            <a:r>
              <a:rPr b="0" i="0" lang="en-US" sz="19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Malgun Gothic"/>
              <a:buChar char="•"/>
            </a:pPr>
            <a:r>
              <a:rPr b="0" i="0" lang="en-US" sz="19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WSDM &amp; WSDM Cup은 무엇인가 (대회 목적, 2018 트랙)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Malgun Gothic"/>
              <a:buChar char="•"/>
            </a:pPr>
            <a:r>
              <a:rPr b="0" i="0" lang="en-US" sz="19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KKBOX Churn Prediction Challenge 데이터셋 구성과 라벨 정의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914900" y="1642850"/>
            <a:ext cx="26205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Malgun Gothic"/>
              <a:buAutoNum type="arabicPeriod"/>
            </a:pPr>
            <a:r>
              <a:rPr lang="en-US" sz="2200">
                <a:latin typeface="Malgun Gothic"/>
                <a:ea typeface="Malgun Gothic"/>
                <a:cs typeface="Malgun Gothic"/>
                <a:sym typeface="Malgun Gothic"/>
              </a:rPr>
              <a:t>Intro</a:t>
            </a:r>
            <a:endParaRPr sz="22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2177077" y="154330"/>
            <a:ext cx="9947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KKBOX 소개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731520" y="8229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KKBOX는 어떤 회사인가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5"/>
          <p:cNvCxnSpPr/>
          <p:nvPr/>
        </p:nvCxnSpPr>
        <p:spPr>
          <a:xfrm>
            <a:off x="731520" y="1417320"/>
            <a:ext cx="10789920" cy="0"/>
          </a:xfrm>
          <a:prstGeom prst="straightConnector1">
            <a:avLst/>
          </a:prstGeom>
          <a:noFill/>
          <a:ln cap="flat" cmpd="sng" w="254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5"/>
          <p:cNvSpPr/>
          <p:nvPr/>
        </p:nvSpPr>
        <p:spPr>
          <a:xfrm>
            <a:off x="731525" y="1840950"/>
            <a:ext cx="10725300" cy="1965600"/>
          </a:xfrm>
          <a:prstGeom prst="roundRect">
            <a:avLst>
              <a:gd fmla="val 16667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1005845" y="2027174"/>
            <a:ext cx="4846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줄 정의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1005850" y="2487271"/>
            <a:ext cx="4846200" cy="9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Malgun Gothic"/>
              <a:buNone/>
            </a:pPr>
            <a:r>
              <a:rPr i="0" lang="en-US" sz="14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대만(Taiwan)의 음악 스트리밍 서비스</a:t>
            </a:r>
            <a:endParaRPr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Malgun Gothic"/>
              <a:buNone/>
            </a:pPr>
            <a:r>
              <a:rPr i="0" lang="en-US" sz="14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동아시아/동남아 시장을 중심으로 서비스 운영</a:t>
            </a:r>
            <a:endParaRPr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Malgun Gothic"/>
              <a:buNone/>
            </a:pPr>
            <a:r>
              <a:rPr i="0" lang="en-US" sz="14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광고 + 유료 구독 기반의 구독형 비즈니스 모델 </a:t>
            </a:r>
            <a:endParaRPr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731525" y="4036962"/>
            <a:ext cx="10725300" cy="1965600"/>
          </a:xfrm>
          <a:prstGeom prst="roundRect">
            <a:avLst>
              <a:gd fmla="val 16667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1005840" y="4268438"/>
            <a:ext cx="9634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Malgun Gothic"/>
              <a:buNone/>
            </a:pPr>
            <a:r>
              <a:rPr b="1" lang="en-US" sz="18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선정 및 분석 포인트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1005850" y="4837958"/>
            <a:ext cx="9634500" cy="9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Malgun Gothic"/>
              <a:buNone/>
            </a:pPr>
            <a:r>
              <a:rPr lang="en-US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WSDM Cup 2018에서 제공된 실데이터 기반 “이탈(Churn) 예측” 과제</a:t>
            </a:r>
            <a:br>
              <a:rPr i="0" lang="en-US" sz="14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회원정보 + 결제/구독 + 청취로그의 다중 테이블 구조 → 조인/집계/시계열 피처 설계가 핵심</a:t>
            </a:r>
            <a:br>
              <a:rPr lang="en-US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수억 행 규모 로그를 다루며 스케일(처리 성능)과 데이터 품질(결측/이상치) 이슈까지 함께 경험</a:t>
            </a:r>
            <a:endParaRPr>
              <a:solidFill>
                <a:srgbClr val="11182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548640" y="6537960"/>
            <a:ext cx="11094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Sources: KKCompany About (https://www.kkcompany.com/en-us/about/), Google Cloud Customer Story (https://cloud.google.com/customers/kkbox), WSDM Cup 2018 site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" name="Google Shape;47;p5" title="KKBOX_logo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3854" y="654497"/>
            <a:ext cx="3383775" cy="70715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5"/>
          <p:cNvSpPr/>
          <p:nvPr/>
        </p:nvSpPr>
        <p:spPr>
          <a:xfrm>
            <a:off x="334526" y="91411"/>
            <a:ext cx="282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b="1" lang="en-US" sz="21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Intro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731520" y="8229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WSDM과 WSDM Cup은 무엇인가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6"/>
          <p:cNvCxnSpPr/>
          <p:nvPr/>
        </p:nvCxnSpPr>
        <p:spPr>
          <a:xfrm>
            <a:off x="731520" y="1417320"/>
            <a:ext cx="10789920" cy="0"/>
          </a:xfrm>
          <a:prstGeom prst="straightConnector1">
            <a:avLst/>
          </a:prstGeom>
          <a:noFill/>
          <a:ln cap="flat" cmpd="sng" w="254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6"/>
          <p:cNvSpPr/>
          <p:nvPr/>
        </p:nvSpPr>
        <p:spPr>
          <a:xfrm>
            <a:off x="731525" y="1561171"/>
            <a:ext cx="5394900" cy="1673700"/>
          </a:xfrm>
          <a:prstGeom prst="roundRect">
            <a:avLst>
              <a:gd fmla="val 16667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1005840" y="1700561"/>
            <a:ext cx="484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WSDM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823034" y="2123200"/>
            <a:ext cx="5120700" cy="10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Malgun Gothic"/>
              <a:buNone/>
            </a:pPr>
            <a:r>
              <a:rPr i="0" lang="en-US" sz="13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</a:t>
            </a: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검색(Search)·추천(Recommendation)·데이터마이닝을 다루는 국제 학술대회</a:t>
            </a:r>
            <a:endParaRPr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Malgun Gothic"/>
              <a:buNone/>
            </a:pPr>
            <a:r>
              <a:rPr i="0" lang="en-US" sz="13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</a:t>
            </a: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연구 성과(논문)와 기업 사례(실제 문제)가 함께 발표되는 자리</a:t>
            </a:r>
            <a:endParaRPr sz="1300">
              <a:solidFill>
                <a:srgbClr val="11182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6217920" y="1561171"/>
            <a:ext cx="5394900" cy="1673700"/>
          </a:xfrm>
          <a:prstGeom prst="roundRect">
            <a:avLst>
              <a:gd fmla="val 16667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6492240" y="1700561"/>
            <a:ext cx="484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WSDM Cup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6309434" y="2123200"/>
            <a:ext cx="53949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Malgun Gothic"/>
              <a:buNone/>
            </a:pP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WSDM에서 열리는 데이터 경진대회 (기업 실데이터 기반)</a:t>
            </a:r>
            <a:b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참가팀이 모델을 제출하면, 동일한 평가 기준으로 순위가 결정</a:t>
            </a:r>
            <a:b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상위 해법은 워크숍/리포트로 공유 (재현 가능한 참고자료)</a:t>
            </a:r>
            <a:endParaRPr i="0" sz="1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Sources: WSDM Conference site (https://www.wsdm-conference.org/), WSDM Cup 2018 CFP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731520" y="3591250"/>
            <a:ext cx="10972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WSDM Cup 2018: 두 개의 과제</a:t>
            </a:r>
            <a:r>
              <a:rPr b="1" lang="en-US" sz="24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2200">
                <a:solidFill>
                  <a:srgbClr val="4A86E8"/>
                </a:solidFill>
                <a:latin typeface="Malgun Gothic"/>
                <a:ea typeface="Malgun Gothic"/>
                <a:cs typeface="Malgun Gothic"/>
                <a:sym typeface="Malgun Gothic"/>
              </a:rPr>
              <a:t>(Task 2 선정 및 진행)</a:t>
            </a:r>
            <a:endParaRPr b="0" i="0" sz="2200" u="none" cap="none" strike="noStrik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65;p6"/>
          <p:cNvCxnSpPr/>
          <p:nvPr/>
        </p:nvCxnSpPr>
        <p:spPr>
          <a:xfrm>
            <a:off x="731520" y="4185610"/>
            <a:ext cx="10789800" cy="0"/>
          </a:xfrm>
          <a:prstGeom prst="straightConnector1">
            <a:avLst/>
          </a:prstGeom>
          <a:noFill/>
          <a:ln cap="flat" cmpd="sng" w="254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6"/>
          <p:cNvSpPr/>
          <p:nvPr/>
        </p:nvSpPr>
        <p:spPr>
          <a:xfrm>
            <a:off x="731525" y="4311290"/>
            <a:ext cx="10789800" cy="1933500"/>
          </a:xfrm>
          <a:prstGeom prst="roundRect">
            <a:avLst>
              <a:gd fmla="val 16667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1005840" y="4539878"/>
            <a:ext cx="1024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Task 1: Music Recommendation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1188720" y="4878206"/>
            <a:ext cx="9966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사용자 청취 이력과 음악 메타데이터를 활용하여 다음 달 청취 곡을 예측(추천)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1005850" y="5368065"/>
            <a:ext cx="2819400" cy="32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1005840" y="5362838"/>
            <a:ext cx="1024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Task 2: Churn Prediction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1188720" y="5701166"/>
            <a:ext cx="9966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현재 구독 만료 후 30일 이내 재구독 여부를 예측(이탈 예측)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2177077" y="154330"/>
            <a:ext cx="9947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lgun Gothic"/>
              <a:buNone/>
            </a:pPr>
            <a:r>
              <a:rPr b="1" lang="en-US" sz="1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WSDM / WSDM Cup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334525" y="91400"/>
            <a:ext cx="161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b="1" lang="en-US" sz="21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Intro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731520" y="755647"/>
            <a:ext cx="10972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Malgun Gothic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구독형 서비스에서 “이탈”이 중요한 이유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7"/>
          <p:cNvCxnSpPr/>
          <p:nvPr/>
        </p:nvCxnSpPr>
        <p:spPr>
          <a:xfrm>
            <a:off x="731520" y="1350007"/>
            <a:ext cx="10789800" cy="0"/>
          </a:xfrm>
          <a:prstGeom prst="straightConnector1">
            <a:avLst/>
          </a:prstGeom>
          <a:noFill/>
          <a:ln cap="flat" cmpd="sng" w="254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7"/>
          <p:cNvSpPr/>
          <p:nvPr/>
        </p:nvSpPr>
        <p:spPr>
          <a:xfrm>
            <a:off x="700900" y="1505562"/>
            <a:ext cx="10972800" cy="2028600"/>
          </a:xfrm>
          <a:prstGeom prst="roundRect">
            <a:avLst>
              <a:gd fmla="val 16667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/>
          <p:cNvSpPr/>
          <p:nvPr/>
        </p:nvSpPr>
        <p:spPr>
          <a:xfrm>
            <a:off x="831875" y="1676237"/>
            <a:ext cx="10972800" cy="18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Malgun Gothic"/>
              <a:buChar char="●"/>
            </a:pPr>
            <a:r>
              <a:rPr lang="en-US"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구독형 스트리밍은 </a:t>
            </a:r>
            <a:r>
              <a:rPr b="1" lang="en-US"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유료 구독(또는 광고)</a:t>
            </a:r>
            <a:r>
              <a:rPr lang="en-US"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매출의 핵심이므로, 구독자 수가 줄면 매출도 바로 줄어듦</a:t>
            </a:r>
            <a:endParaRPr sz="1500">
              <a:solidFill>
                <a:srgbClr val="11182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Malgun Gothic"/>
              <a:buChar char="●"/>
            </a:pPr>
            <a:r>
              <a:rPr b="1" lang="en-US"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이탈을 미리 알아채고</a:t>
            </a:r>
            <a:r>
              <a:rPr lang="en-US"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, 쿠폰/혜택/추천 등으로 </a:t>
            </a:r>
            <a:r>
              <a:rPr b="1" lang="en-US"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남게 만드는 것(리텐션)이 중요</a:t>
            </a:r>
            <a:endParaRPr b="1" sz="1500">
              <a:solidFill>
                <a:srgbClr val="11182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Malgun Gothic"/>
              <a:buChar char="●"/>
            </a:pPr>
            <a:r>
              <a:rPr lang="en-US"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과제에서 이탈은 </a:t>
            </a:r>
            <a:r>
              <a:rPr b="1" lang="en-US"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“만료 후 30일 안에 재결제하지 않음”</a:t>
            </a:r>
            <a:r>
              <a:rPr lang="en-US"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으로 정의함</a:t>
            </a:r>
            <a:endParaRPr sz="1500">
              <a:solidFill>
                <a:srgbClr val="11182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Malgun Gothic"/>
              <a:buChar char="●"/>
            </a:pPr>
            <a:r>
              <a:rPr lang="en-US"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신규 고객을 확보</a:t>
            </a:r>
            <a:r>
              <a:rPr lang="en-US"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</a:t>
            </a:r>
            <a:r>
              <a:rPr lang="en-US"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는 것보다 </a:t>
            </a:r>
            <a:r>
              <a:rPr b="1" lang="en-US"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고객을 유지하는 편이 </a:t>
            </a:r>
            <a:r>
              <a:rPr b="1" lang="en-US"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</a:t>
            </a:r>
            <a:r>
              <a:rPr b="1" lang="en-US"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용 효율적</a:t>
            </a:r>
            <a:endParaRPr b="1" sz="1500">
              <a:solidFill>
                <a:srgbClr val="11182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Malgun Gothic"/>
              <a:buChar char="●"/>
            </a:pPr>
            <a:r>
              <a:rPr lang="en-US"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이탈 위험 고객을 미리 선별하면 </a:t>
            </a:r>
            <a:r>
              <a:rPr b="1" lang="en-US"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이탈 위험이 높은 고객에게만 혜택/케어를 집중</a:t>
            </a:r>
            <a:r>
              <a:rPr lang="en-US" sz="15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하여 비용 낭비를 줄일 수 있음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548640" y="6537960"/>
            <a:ext cx="11094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Sources: WSDM Cup paper (Wang et al., 2018) &amp; WSDM Cup CFP (2018)</a:t>
            </a:r>
            <a:endParaRPr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2177077" y="154330"/>
            <a:ext cx="9947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lgun Gothic"/>
              <a:buNone/>
            </a:pPr>
            <a:r>
              <a:rPr b="1" lang="en-US" sz="1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비지니스 맥락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334525" y="91400"/>
            <a:ext cx="161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b="1" lang="en-US" sz="21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Intro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731520" y="3746966"/>
            <a:ext cx="10972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Malgun Gothic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Churn Prediction Challenge의 목표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" name="Google Shape;88;p7"/>
          <p:cNvCxnSpPr/>
          <p:nvPr/>
        </p:nvCxnSpPr>
        <p:spPr>
          <a:xfrm>
            <a:off x="731520" y="4307872"/>
            <a:ext cx="10789800" cy="0"/>
          </a:xfrm>
          <a:prstGeom prst="straightConnector1">
            <a:avLst/>
          </a:prstGeom>
          <a:noFill/>
          <a:ln cap="flat" cmpd="sng" w="254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7"/>
          <p:cNvSpPr/>
          <p:nvPr/>
        </p:nvSpPr>
        <p:spPr>
          <a:xfrm>
            <a:off x="731525" y="4430436"/>
            <a:ext cx="10789800" cy="1753800"/>
          </a:xfrm>
          <a:prstGeom prst="roundRect">
            <a:avLst>
              <a:gd fmla="val 16667" name="adj"/>
            </a:avLst>
          </a:prstGeom>
          <a:solidFill>
            <a:srgbClr val="F9FA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813822" y="4776726"/>
            <a:ext cx="8203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lgun Gothic"/>
              <a:buChar char="●"/>
            </a:pPr>
            <a:r>
              <a:rPr b="1" i="0" lang="en-US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예측 대상: </a:t>
            </a:r>
            <a:r>
              <a:rPr lang="en-US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이번 달에 멤버십이 만료되는 사용자의 churn 확률(0~1)을 예측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1182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803579" y="5176902"/>
            <a:ext cx="8646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lgun Gothic"/>
              <a:buChar char="●"/>
            </a:pPr>
            <a:r>
              <a:rPr b="1" i="0" lang="en-US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Churn 정의: </a:t>
            </a:r>
            <a:r>
              <a:rPr lang="en-US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만료일 이후 30일 이내 ‘유효한 재구독’이 없으면 churn=1, 있으면 0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1182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798451" y="5560946"/>
            <a:ext cx="10233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Malgun Gothic"/>
              <a:buChar char="●"/>
            </a:pPr>
            <a:r>
              <a:rPr b="1" i="0" lang="en-US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평가 지표: </a:t>
            </a:r>
            <a:r>
              <a:rPr lang="en-US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정답 0/1에 대한 확률 출력 및 예측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1182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798451" y="5898440"/>
            <a:ext cx="9723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lgun Gothic"/>
              <a:buChar char="●"/>
            </a:pPr>
            <a:r>
              <a:rPr b="1" i="0" lang="en-US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시점: </a:t>
            </a:r>
            <a:r>
              <a:rPr lang="en-US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3월 데이터를 학습에 사용하고, 4월 churn을 예측하는 설정(WSDM Cup 2018 기준)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1182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731520" y="822960"/>
            <a:ext cx="10972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제공 파일(핵심 테이블)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8"/>
          <p:cNvCxnSpPr/>
          <p:nvPr/>
        </p:nvCxnSpPr>
        <p:spPr>
          <a:xfrm>
            <a:off x="731520" y="1417320"/>
            <a:ext cx="10789800" cy="0"/>
          </a:xfrm>
          <a:prstGeom prst="straightConnector1">
            <a:avLst/>
          </a:prstGeom>
          <a:noFill/>
          <a:ln cap="flat" cmpd="sng" w="254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8"/>
          <p:cNvSpPr/>
          <p:nvPr/>
        </p:nvSpPr>
        <p:spPr>
          <a:xfrm>
            <a:off x="731525" y="2468877"/>
            <a:ext cx="1828800" cy="5028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841253" y="2533752"/>
            <a:ext cx="16092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Dataset</a:t>
            </a:r>
            <a:endParaRPr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2560325" y="2468877"/>
            <a:ext cx="1828800" cy="5028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2670053" y="2533752"/>
            <a:ext cx="16092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Rows (approx.)</a:t>
            </a:r>
            <a:endParaRPr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4389125" y="2468877"/>
            <a:ext cx="7132200" cy="5028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4498853" y="2533752"/>
            <a:ext cx="69129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키/필드</a:t>
            </a:r>
            <a:endParaRPr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731525" y="3050278"/>
            <a:ext cx="1828800" cy="704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841253" y="3118822"/>
            <a:ext cx="16092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Malgun Gothic"/>
              <a:buNone/>
            </a:pPr>
            <a:r>
              <a:rPr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members_v3</a:t>
            </a:r>
            <a:endParaRPr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2560325" y="3050278"/>
            <a:ext cx="1828800" cy="704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2670053" y="3118822"/>
            <a:ext cx="16092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Malgun Gothic"/>
              <a:buNone/>
            </a:pPr>
            <a:r>
              <a:rPr i="0" lang="en-US" sz="12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6,769,473</a:t>
            </a:r>
            <a:endParaRPr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4389125" y="3050278"/>
            <a:ext cx="7132200" cy="704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4498853" y="3118822"/>
            <a:ext cx="691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Malgun Gothic"/>
              <a:buNone/>
            </a:pPr>
            <a:r>
              <a:rPr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msno(유저ID), city(도시코드), bd(나이), gender(성별),</a:t>
            </a:r>
            <a:br>
              <a:rPr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registered_via(가입경로), registration_init_time(가입일)</a:t>
            </a:r>
            <a:endParaRPr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731525" y="3732039"/>
            <a:ext cx="1828800" cy="704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841253" y="3822886"/>
            <a:ext cx="16092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Malgun Gothic"/>
              <a:buNone/>
            </a:pPr>
            <a:r>
              <a:rPr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transactions_v2</a:t>
            </a:r>
            <a:endParaRPr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2560325" y="3732039"/>
            <a:ext cx="1828800" cy="704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2670053" y="3822886"/>
            <a:ext cx="16092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Malgun Gothic"/>
              <a:buNone/>
            </a:pPr>
            <a:r>
              <a:rPr i="0" lang="en-US" sz="12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22,978,755</a:t>
            </a:r>
            <a:endParaRPr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4389125" y="3732039"/>
            <a:ext cx="7132200" cy="704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4498853" y="3822886"/>
            <a:ext cx="691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Malgun Gothic"/>
              <a:buNone/>
            </a:pPr>
            <a:r>
              <a:rPr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msno(유저ID), payment_method_id(결제수단), payment_plan_days(기간)</a:t>
            </a:r>
            <a:br>
              <a:rPr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plan_list_price(정가), actual_amount_paid(실결제), is_auto_renew(자동갱신)</a:t>
            </a:r>
            <a:br>
              <a:rPr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transaction_date(거래일), membership_expire_date(만료일), is_cancel(</a:t>
            </a: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멤버쉽</a:t>
            </a:r>
            <a:r>
              <a:rPr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취소)</a:t>
            </a:r>
            <a:endParaRPr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731525" y="4436102"/>
            <a:ext cx="1828800" cy="704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841253" y="4526949"/>
            <a:ext cx="16092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Malgun Gothic"/>
              <a:buNone/>
            </a:pPr>
            <a:r>
              <a:rPr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user_logs_v2</a:t>
            </a:r>
            <a:endParaRPr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2560325" y="4436102"/>
            <a:ext cx="1828800" cy="704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2670053" y="4526949"/>
            <a:ext cx="16092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Malgun Gothic"/>
              <a:buNone/>
            </a:pPr>
            <a:r>
              <a:rPr i="0" lang="en-US" sz="12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410,502,905</a:t>
            </a:r>
            <a:endParaRPr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4389125" y="4436102"/>
            <a:ext cx="7132200" cy="704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4498853" y="4526949"/>
            <a:ext cx="691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Malgun Gothic"/>
              <a:buNone/>
            </a:pPr>
            <a:r>
              <a:rPr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msno(유저ID), date(날짜), num_25~num_100(재생완료도별 곡수),</a:t>
            </a:r>
            <a:br>
              <a:rPr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num_unq(고유곡수), total_secs(총재생시간)</a:t>
            </a:r>
            <a:endParaRPr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731525" y="5140166"/>
            <a:ext cx="1828800" cy="704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841253" y="5231013"/>
            <a:ext cx="16092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Malgun Gothic"/>
              <a:buNone/>
            </a:pPr>
            <a:r>
              <a:rPr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train_v2</a:t>
            </a:r>
            <a:endParaRPr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2560325" y="5140166"/>
            <a:ext cx="1828800" cy="704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2670053" y="5231013"/>
            <a:ext cx="16092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Malgun Gothic"/>
              <a:buNone/>
            </a:pPr>
            <a:r>
              <a:rPr i="0" lang="en-US" sz="12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1,963,891</a:t>
            </a:r>
            <a:endParaRPr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4389125" y="5140166"/>
            <a:ext cx="7132200" cy="704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4498853" y="5231013"/>
            <a:ext cx="691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Malgun Gothic"/>
              <a:buNone/>
            </a:pPr>
            <a:r>
              <a:rPr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msno(유저ID), is_churn(이탈라벨)</a:t>
            </a:r>
            <a:endParaRPr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731520" y="1679892"/>
            <a:ext cx="10789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모든 테이블은 msno(유저ID)로 조인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548640" y="6537960"/>
            <a:ext cx="11094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Source: WSDM Cup 2018 workshop paper Table (dataset summary &amp; fields)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2177077" y="154330"/>
            <a:ext cx="9947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데이터셋 구성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334525" y="91400"/>
            <a:ext cx="161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Intro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References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731520" y="8229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9"/>
          <p:cNvCxnSpPr/>
          <p:nvPr/>
        </p:nvCxnSpPr>
        <p:spPr>
          <a:xfrm>
            <a:off x="731520" y="1417320"/>
            <a:ext cx="10789920" cy="0"/>
          </a:xfrm>
          <a:prstGeom prst="straightConnector1">
            <a:avLst/>
          </a:prstGeom>
          <a:noFill/>
          <a:ln cap="flat" cmpd="sng" w="254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9"/>
          <p:cNvSpPr/>
          <p:nvPr/>
        </p:nvSpPr>
        <p:spPr>
          <a:xfrm>
            <a:off x="731520" y="1828800"/>
            <a:ext cx="10789920" cy="4480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914400" y="2057400"/>
            <a:ext cx="104241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WSDM Cup 2018 Call for Participants (WSDM 2018) – https://www.wsdm-conference.org/2018/call-for-participants.html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WSDM Cup 2018 공식 사이트 – https://wsdm-cup-2018.kkbox.events/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KKCompany Technologies: About – https://www.kkcompany.com/en-us/about/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Google Cloud Customer Story: KKBOX – https://cloud.google.com/customers/kkbox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Wang et al., “A Practical Pipeline with Stacking Models for KKBOX’s Churn Prediction Challenge” (WSDM Cup 2018 Workshop) – https://wsdm-cup-2018.kkbox.events/pdf/7_A_Practical_Pipeline_with_Stacking_Models_for_KKBOXs_Churn_Prediction_Challenge.pdf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슬라이드 내 수치/정의는 위 문헌에서 발췌/요약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